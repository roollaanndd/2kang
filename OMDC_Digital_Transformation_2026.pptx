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62495" y="-1371600"/>
            <a:ext cx="6400800" cy="6400800"/>
          </a:xfrm>
          <a:prstGeom prst="ellipse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095" y="4572000"/>
            <a:ext cx="3657600" cy="3657600"/>
          </a:xfrm>
          <a:prstGeom prst="ellipse">
            <a:avLst/>
          </a:prstGeom>
          <a:solidFill>
            <a:srgbClr val="007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1F7A"/>
                </a:solidFill>
                <a:latin typeface="Calibri"/>
              </a:rPr>
              <a:t>PRESENTED BY  RUANG.DEV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Calibri"/>
              </a:rPr>
              <a:t>OMDC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1F7A"/>
                </a:solidFill>
                <a:latin typeface="Calibri"/>
              </a:rPr>
              <a:t>DIGITAL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5CC"/>
                </a:solidFill>
                <a:latin typeface="Calibri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7772400" cy="25400"/>
          </a:xfrm>
          <a:prstGeom prst="rect">
            <a:avLst/>
          </a:prstGeom>
          <a:solidFill>
            <a:srgbClr val="2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4D0"/>
                </a:solidFill>
                <a:latin typeface="Calibri"/>
              </a:rPr>
              <a:t>Website Revamp  •  Mobile Ecosystem  •  Smart eKiosk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Disiapkan untuk OMDC Group  |  Oktri Manessa Dental Clinic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1215" y="1828800"/>
            <a:ext cx="2926080" cy="1554480"/>
          </a:xfrm>
          <a:prstGeom prst="roundRect">
            <a:avLst/>
          </a:prstGeom>
          <a:solidFill>
            <a:srgbClr val="152855"/>
          </a:solidFill>
          <a:ln w="1270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215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OMDC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215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1F7A"/>
                </a:solidFill>
                <a:latin typeface="Calibri"/>
              </a:rPr>
              <a:t>Oktri Manessa Dental Clinic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29200"/>
            <a:ext cx="1737360" cy="68580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🌐 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5029200"/>
            <a:ext cx="1737360" cy="68580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📱  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5029200"/>
            <a:ext cx="1737360" cy="68580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🖥️  eKiosk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The Future of Dental Patient Experience — Visi Transformasi OMDC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5547207" cy="41148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455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⚠  KONDISI SAAT 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1168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6654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✗  Registrasi pasien manual — 15–20 menit per pasien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6032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560320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61518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✗  Antrean front desk yang panjang dan tidak terukur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16382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✗  Tidak ada akses self-service sama sekali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5760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71246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✗  Data tersebar di sistem yang tidak terintegrasi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0624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26110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✗  Zero analytics dan laporan manajemen real-time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50127" y="1508760"/>
            <a:ext cx="25400" cy="4937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7287" y="1508760"/>
            <a:ext cx="5547207" cy="411480"/>
          </a:xfrm>
          <a:prstGeom prst="roundRect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727" y="1554480"/>
            <a:ext cx="5455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B"/>
                </a:solidFill>
                <a:latin typeface="Calibri"/>
              </a:rPr>
              <a:t>✦  VISI OMDC DIGITAL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201168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287" y="2011680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7015" y="206654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Booking online 24/7 via website, app &amp; PWA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287" y="256032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7287" y="2560320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7015" y="261518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Self check-in dengan Smart eKiosk tanpa antrean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310896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7287" y="3108960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7015" y="316382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Mobile app lengkap dengan membership &amp; loyalty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365760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3657600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7015" y="371246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Ekosistem digital terintegrasi lintas cabang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87287" y="4206240"/>
            <a:ext cx="5547207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87287" y="4206240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7015" y="4261104"/>
            <a:ext cx="53643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Dashboard analytics real-time untuk manajemen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43600"/>
            <a:ext cx="11460175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032500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🎯  40% Efisiensi Registrasi  •  35% Peningkatan Konversi  •  50% Pengurangan Admin Workload  •  25% Repeat Visit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Tantangan Operasional yang Harus Diselesaikan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Identifikasi pain points utama yang menghambat pertumbuhan OMDC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" y="155956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560" y="155956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92024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Registrasi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5856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Pasien mengisi formulir fisik setiap kunjungan. Proses 15–20 menit per pasien menciptakan bottleneck fatal di peak hours, menurunkan kepuasan dan kapasitas harian.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138" y="155956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138" y="155956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993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9930" y="192024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Antrean Tidak Terukur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9930" y="225856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Tanpa sistem queue digital, pasien tidak tahu estimasi waktu tunggu. Ketidakpastian ini mendorong mereka beralih ke klinik kompetitor yang lebih terorganisir.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5716" y="155956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5716" y="155956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9508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9508" y="192024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Sistem Terfragmentasi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9508" y="225856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Data pasien, jadwal dokter, rekam medis, dan pembayaran tersebar di sistem berbeda. Tim admin kehilangan 3–4 jam per hari hanya untuk rekonsiliasi data manual.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560" y="405130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560" y="405130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0919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41198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Zero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5030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Manajemen tidak punya visibilitas real-time atas kinerja cabang, utilisasi dokter, tren revenue, atau perilaku pasien. Keputusan bisnis dibuat tanpa data akurat.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138" y="405130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138" y="405130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9930" y="40919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9930" y="441198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Tidak Ada Self-Service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9930" y="475030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Pasien harus selalu berinteraksi dengan staff untuk setiap kebutuhan: pendaftaran, cek jadwal, pembayaran. Tidak ada kanal digital mandiri sama sekali.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5716" y="4051300"/>
            <a:ext cx="3652418" cy="23545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95716" y="4051300"/>
            <a:ext cx="50800" cy="23545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9508" y="40919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9508" y="4411980"/>
            <a:ext cx="33323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Loyalitas Tidak Terkelola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9508" y="4750308"/>
            <a:ext cx="3378098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Tidak ada program loyalitas digital. Pasien lama tidak mendapat insentif untuk kembali, dan tidak ada mekanisme re-engagement pasca-kunjungan yang efektif.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State: Perjalanan Pasien Digital OMDC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Dari search hingga re-booking — setiap touchpoint didigitalisasi secara seamless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1082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8242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860" y="1828800"/>
            <a:ext cx="1484042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860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860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Google Search
SEO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2124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9284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4902" y="1828800"/>
            <a:ext cx="1484042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4902" y="1828800"/>
            <a:ext cx="50800" cy="438912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4902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1F7A"/>
                </a:solidFill>
                <a:latin typeface="Calibri"/>
              </a:rP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4902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4902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App / PWA
WhatsApp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3166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0326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5944" y="1828800"/>
            <a:ext cx="1484042" cy="438912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5944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5944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5944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Smart eKiosk
QR Scan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4208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1368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6986" y="1828800"/>
            <a:ext cx="1484042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36986" y="1828800"/>
            <a:ext cx="50800" cy="438912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6986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1F7A"/>
                </a:solidFill>
                <a:latin typeface="Calibri"/>
              </a:rPr>
              <a:t>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6986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Perawatan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6986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Dokter +
Rekam Digital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250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2410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48028" y="1828800"/>
            <a:ext cx="1484042" cy="438912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48028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028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Pembayaran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028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Digital Pay
E-Receipt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86292" y="3947160"/>
            <a:ext cx="274320" cy="381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3452" y="3810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9070" y="1828800"/>
            <a:ext cx="1484042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59070" y="1828800"/>
            <a:ext cx="50800" cy="438912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9070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1F7A"/>
                </a:solidFill>
                <a:latin typeface="Calibri"/>
              </a:rPr>
              <a:t>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9070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Loyalty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9070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Poin Reward
Membership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70112" y="1828800"/>
            <a:ext cx="1484042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70112" y="1828800"/>
            <a:ext cx="50800" cy="438912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70112" y="2011680"/>
            <a:ext cx="14840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1F7A"/>
                </a:solidFill>
                <a:latin typeface="Calibri"/>
              </a:rPr>
              <a:t>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112" y="2514600"/>
            <a:ext cx="14840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Re-Booking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112" y="2907792"/>
            <a:ext cx="148404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Push Notif
Reminder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Ekosistem Digital OMDC: Satu Platform Terintegrasi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Arsitektur berlapis yang menghubungkan setiap stakeholder dalam satu ekosistem cerdas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0728655" cy="920496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536432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536192"/>
            <a:ext cx="509000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  <a:latin typeface="Calibri"/>
              </a:rPr>
              <a:t>Booking • Check-In • Pembayaran • Loyalty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3055" y="1536192"/>
            <a:ext cx="365760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5A9A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459736"/>
            <a:ext cx="10088575" cy="920496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532888"/>
            <a:ext cx="504428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WEBSITE  +  PWA  + 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532888"/>
            <a:ext cx="476996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  <a:latin typeface="Calibri"/>
              </a:rPr>
              <a:t>Akuisisi • Engagement • Self-Service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3055" y="2532888"/>
            <a:ext cx="365760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5A9A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456432"/>
            <a:ext cx="9448495" cy="920496"/>
          </a:xfrm>
          <a:prstGeom prst="round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529584"/>
            <a:ext cx="472424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eKIOSK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3529584"/>
            <a:ext cx="444992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  <a:latin typeface="Calibri"/>
              </a:rPr>
              <a:t>Registrasi • Antrian • Pembayaran • QR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3055" y="3529584"/>
            <a:ext cx="365760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5A9A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453128"/>
            <a:ext cx="8808415" cy="9204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4526280"/>
            <a:ext cx="440420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OPERASIONAL KLINIK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526280"/>
            <a:ext cx="412988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  <a:latin typeface="Calibri"/>
              </a:rPr>
              <a:t>Rekam Medis • Jadwal Dokter • 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3055" y="4526280"/>
            <a:ext cx="365760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5A9A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449824"/>
            <a:ext cx="8168335" cy="920496"/>
          </a:xfrm>
          <a:prstGeom prst="roundRect">
            <a:avLst/>
          </a:prstGeom>
          <a:solidFill>
            <a:srgbClr val="2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522976"/>
            <a:ext cx="408416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MANAGEMENT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5522976"/>
            <a:ext cx="3809847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  <a:latin typeface="Calibri"/>
              </a:rPr>
              <a:t>Analytics • BI • Multi-Cabang •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3055" y="5522976"/>
            <a:ext cx="365760" cy="84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5A9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Website Revamp: Pintu Digital Utama OMDC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Dari website informasional menjadi mesin akuisisi pasien yang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05280"/>
            <a:ext cx="6156801" cy="114427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05280"/>
            <a:ext cx="50800" cy="114427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1F7A"/>
                </a:solidFill>
                <a:latin typeface="Calibri"/>
              </a:rPr>
              <a:t>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515096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Direktori Dokter &amp; Layanan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93392"/>
            <a:ext cx="5150961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Profil dokter dengan spesialisasi, jadwal &amp; ulasan. Katalog lengkap layanan gigi dengan estimasi biaya.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51150"/>
            <a:ext cx="6156801" cy="114427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51150"/>
            <a:ext cx="50800" cy="114427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1007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1F7A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91790"/>
            <a:ext cx="515096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Booking Online &amp; Branch Locator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39262"/>
            <a:ext cx="5150961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Reservasi real-time dengan kalender dokter. Peta interaktif semua cabang OMDC.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97020"/>
            <a:ext cx="6156801" cy="114427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97020"/>
            <a:ext cx="50800" cy="114427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559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1F7A"/>
                </a:solidFill>
                <a:latin typeface="Calibr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37660"/>
            <a:ext cx="515096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Pusat Promo &amp; WhatsApp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5132"/>
            <a:ext cx="5150961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Landing page promo dinamis untuk campaign seasonal. Integrasi WhatsApp Business untuk follow-up otomatis.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42890"/>
            <a:ext cx="6156801" cy="114427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342890"/>
            <a:ext cx="50800" cy="114427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0181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1F7A"/>
                </a:solidFill>
                <a:latin typeface="Calibri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83530"/>
            <a:ext cx="515096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SEO-Optimized &amp; Fast Loading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31002"/>
            <a:ext cx="5150961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Technical SEO terbaik, loading &lt; 2 detik, mobile-first responsive, Core Web Vitals sempurna.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14001" y="1554480"/>
            <a:ext cx="5394813" cy="914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1161" y="1645920"/>
            <a:ext cx="51204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1F7A"/>
                </a:solidFill>
                <a:latin typeface="Calibri"/>
              </a:rPr>
              <a:t>EXPECTED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4001" y="1874520"/>
            <a:ext cx="53948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5CC"/>
                </a:solidFill>
                <a:latin typeface="Calibri"/>
              </a:rPr>
              <a:t>+35%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4001" y="2267712"/>
            <a:ext cx="539481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Peningkatan Konversi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14001" y="2560320"/>
            <a:ext cx="5394813" cy="91440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4001" y="2651760"/>
            <a:ext cx="53948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+40%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4001" y="3127248"/>
            <a:ext cx="539481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Permintaan Appointment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14001" y="3611880"/>
            <a:ext cx="5394813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14001" y="3611880"/>
            <a:ext cx="5394813" cy="292608"/>
          </a:xfrm>
          <a:prstGeom prst="rect">
            <a:avLst/>
          </a:prstGeom>
          <a:solidFill>
            <a:srgbClr val="F0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87153" y="3713480"/>
            <a:ext cx="109728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1745" y="3713480"/>
            <a:ext cx="109728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16337" y="3713480"/>
            <a:ext cx="109728" cy="109728"/>
          </a:xfrm>
          <a:prstGeom prst="rect">
            <a:avLst/>
          </a:prstGeom>
          <a:solidFill>
            <a:srgbClr val="6BC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08361" y="3688080"/>
            <a:ext cx="4663293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8361" y="3688080"/>
            <a:ext cx="46632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omdc.co.id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001" y="3904488"/>
            <a:ext cx="5394813" cy="4114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4001" y="3977640"/>
            <a:ext cx="539481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OMDC — Klinik Gigi Terpercaya Indonesia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441" y="4361688"/>
            <a:ext cx="10281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Dokter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84404" y="4361688"/>
            <a:ext cx="10281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Layanan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3366" y="4361688"/>
            <a:ext cx="10281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Cabang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2329" y="4361688"/>
            <a:ext cx="10281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Promo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21292" y="4361688"/>
            <a:ext cx="10281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Booking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SEO &amp; Strategi Dominasi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Menguasai halaman pertama Google untuk semua kata kunci dental di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46328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1F7A"/>
                </a:solidFill>
                <a:latin typeface="Calibri"/>
              </a:rPr>
              <a:t>TARGET KEYWORDS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65960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6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460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Klinik Gigi Jakarta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1218" y="2240280"/>
            <a:ext cx="335878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487167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3796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50667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Dokter Gigi Terbaik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4774" y="2761487"/>
            <a:ext cx="3005229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3008374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5917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71874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Scaling Gigi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18331" y="3282694"/>
            <a:ext cx="2651673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3529581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8038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593081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Behel Gigi Jakarta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71887" y="3803901"/>
            <a:ext cx="2298116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4050788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015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14288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Veneer Gigi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5443" y="4325108"/>
            <a:ext cx="1944560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" y="4571995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2279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35495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Implant Gigi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9000" y="4846315"/>
            <a:ext cx="1591003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5093202"/>
            <a:ext cx="4449964" cy="411480"/>
          </a:xfrm>
          <a:prstGeom prst="roundRect">
            <a:avLst/>
          </a:prstGeom>
          <a:solidFill>
            <a:srgbClr val="FFF0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4400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56702"/>
            <a:ext cx="3992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Perawatan Saluran Akar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32556" y="5367522"/>
            <a:ext cx="12374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15724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  <a:latin typeface="Calibr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5724" y="38404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1F7A"/>
                </a:solidFill>
                <a:latin typeface="Calibri"/>
              </a:rPr>
              <a:t>+100%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5724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Organic Growth Target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4604" y="1554480"/>
            <a:ext cx="454133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84604" y="1554480"/>
            <a:ext cx="50800" cy="10058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1764" y="1645920"/>
            <a:ext cx="43584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Technical SEO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1764" y="1993392"/>
            <a:ext cx="4358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Site speed, Core Web Vitals, schema markup, crawlability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84604" y="2651760"/>
            <a:ext cx="454133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84604" y="2651760"/>
            <a:ext cx="50800" cy="10058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21764" y="2743200"/>
            <a:ext cx="43584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Content 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1764" y="3090672"/>
            <a:ext cx="4358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Artikel blog edukasi gigi, FAQ, panduan perawatan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84604" y="3749040"/>
            <a:ext cx="454133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84604" y="3749040"/>
            <a:ext cx="50800" cy="10058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1764" y="3840480"/>
            <a:ext cx="43584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Local SEO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1764" y="4187952"/>
            <a:ext cx="4358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Google Business tiap cabang, local citations, review management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84604" y="4846320"/>
            <a:ext cx="454133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84604" y="4846320"/>
            <a:ext cx="50800" cy="10058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1764" y="4937760"/>
            <a:ext cx="43584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Link Building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1764" y="5285232"/>
            <a:ext cx="435845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Backlink authority dari situs kesehatan &amp; media nasional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Progressive Web App (PWA): Pengalaman App Tanpa Instalasi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Akses semua fitur via browser smartphone — tanpa download, tanpa hambatan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6386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8488"/>
            <a:ext cx="47242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Booking 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67128"/>
            <a:ext cx="52728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Reservasi real-time dengan pilihan dokter, jadwal, dan cabang. Konfirmasi instan via push notifikasi dan WhatsApp. Reminder otomatis H-1 untuk reduce no-show.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50876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508760"/>
            <a:ext cx="56386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0167" y="1600200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1618488"/>
            <a:ext cx="47242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Membership &amp; Loyalty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167128"/>
            <a:ext cx="52728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Program poin digital: earn setiap kunjungan, redeem untuk diskon perawatan. Tier keanggotaan Silver, Gold, Platinum dengan benefit eksklusif.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6908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56386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78808"/>
            <a:ext cx="47242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Riwayat Perawatan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52728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Akses digital seluruh rekam medis, foto before-after, rencana perawatan, dan jadwal kontrol yang direkomendasikan dokter kapan saja.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06908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7287" y="4069080"/>
            <a:ext cx="56386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167" y="4160520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7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0247" y="4178808"/>
            <a:ext cx="47242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Pembayaran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727448"/>
            <a:ext cx="52728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Ekosistem payment lengkap: transfer bank, GoPay, OVO, DANA, kartu kredit/debit, QRIS. Riwayat transaksi dan e-receipt dapat diunduh kapan saja.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Aplikasi Native Android &amp;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Pengalaman mobile premium yang dirancang untuk standar klinik gigi kelas dunia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286000" cy="4389120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8800" y="1701800"/>
            <a:ext cx="2082800" cy="4185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752600"/>
            <a:ext cx="1981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>9:41  ●●●●  WiFi  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800" y="1955800"/>
            <a:ext cx="2082800" cy="35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1968500"/>
            <a:ext cx="1981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OMDC —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387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Selamat datang, Budi 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2667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2946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Appointment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32258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Rabu 25 Jun — 10.00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5052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Dr. Sari Dewi • Cabang Sudirman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3784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064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💎 Gold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4343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1.250 poin aktif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80760"/>
            <a:ext cx="2286000" cy="3200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Screen 1: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1600200"/>
            <a:ext cx="2286000" cy="4389120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72432" y="1701800"/>
            <a:ext cx="2082800" cy="418592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3232" y="1752600"/>
            <a:ext cx="1981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>9:41  ●●●●  WiFi  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2432" y="1955800"/>
            <a:ext cx="2082800" cy="35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3232" y="1968500"/>
            <a:ext cx="1981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OMDC —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8632" y="2387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Pilih Layanan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8632" y="2667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 Scaling &amp; Polishing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8632" y="2946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 Behel Gigi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8632" y="32258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 Veneer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8632" y="35052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8632" y="3784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Pilih Dokter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8632" y="4064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▶ Dr. Rina ● Dr. Andi ● Dr. Sari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8632" y="4343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8632" y="46228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📅 Pilih Tanggal &amp; Waktu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8632" y="49022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  25 Jun  ] [ 10.00 ]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8632" y="5181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8632" y="5461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 Konfirmasi Booking 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6080760"/>
            <a:ext cx="2286000" cy="32004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Screen 2: Booking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84464" y="1600200"/>
            <a:ext cx="2286000" cy="4389120"/>
          </a:xfrm>
          <a:prstGeom prst="round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86064" y="1701800"/>
            <a:ext cx="2082800" cy="418592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6864" y="1752600"/>
            <a:ext cx="1981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>9:41  ●●●●  WiFi  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6064" y="1955800"/>
            <a:ext cx="2082800" cy="35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6864" y="1968500"/>
            <a:ext cx="1981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OMDC — Rewards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2264" y="2387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💎 Gold Member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2264" y="2667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━━━━━━━━━━━━━━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2264" y="2946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1.250 / 2.000 Poin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2264" y="32258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[████████░░] 63%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2264" y="35052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2264" y="37846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Reward Tersedia: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62264" y="40640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• Diskon 15% Scaling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62264" y="43434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• Free Konsultasi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62264" y="4622800"/>
            <a:ext cx="193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• Priority Queue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4464" y="6080760"/>
            <a:ext cx="2286000" cy="32004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84464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Screen 3: Rewards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31375" y="1645920"/>
            <a:ext cx="219456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31375" y="1645920"/>
            <a:ext cx="50800" cy="4114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41103" y="17094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React Native — satu codebase untuk Android &amp; iOS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31375" y="2148840"/>
            <a:ext cx="219456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31375" y="2148840"/>
            <a:ext cx="50800" cy="4114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41103" y="22123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Push notifications cerdas &amp; contextual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31375" y="2651760"/>
            <a:ext cx="219456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31375" y="2651760"/>
            <a:ext cx="50800" cy="4114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41103" y="271526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Offline mode untuk data dasar tersedia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31375" y="3154680"/>
            <a:ext cx="219456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31375" y="3154680"/>
            <a:ext cx="50800" cy="4114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41103" y="32181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Face ID / Fingerprint authentication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31375" y="3657600"/>
            <a:ext cx="219456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31375" y="3657600"/>
            <a:ext cx="50800" cy="4114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41103" y="37211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App Store &amp; Google Play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Smart eKiosk: Revolusi Layanan Mandiri Pasien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Terminal self-service yang mengurangi beban front desk hingga 50% dan mempercepat alur layanan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" y="1645920"/>
            <a:ext cx="1803349" cy="4572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Kedatangan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Pasien tiba di klinik
Menuju terminal eKiosk
Identifikasi diri tersedia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09" y="3804920"/>
            <a:ext cx="76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9109" y="3677920"/>
            <a:ext cx="228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3409" y="1645920"/>
            <a:ext cx="1803349" cy="457200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36749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6749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5309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5309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QR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1509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Scan QR dari aplikasi
atau input NIK manual
Verifikasi appointment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4058" y="3804920"/>
            <a:ext cx="76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8658" y="3677920"/>
            <a:ext cx="228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2958" y="1645920"/>
            <a:ext cx="1803349" cy="457200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16298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969B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4858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4858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1058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Konfirmasi data diri
Cetak/kirim nomor antrian
Notif ke smartphone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3607" y="3804920"/>
            <a:ext cx="76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8207" y="3677920"/>
            <a:ext cx="228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42507" y="1645920"/>
            <a:ext cx="1803349" cy="4572000"/>
          </a:xfrm>
          <a:prstGeom prst="roundRect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5847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5847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855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4407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4407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Perawatan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607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Panggilan antrian digital
Masuk ruang perawatan
Dokter akses EMR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156" y="3804920"/>
            <a:ext cx="76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7756" y="3677920"/>
            <a:ext cx="228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22056" y="1645920"/>
            <a:ext cx="1803349" cy="457200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75396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5396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3956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3956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Pembayaran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0156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Tagihan otomatis muncul
Pilih metode payment
Cetak / kirim e-receipt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12705" y="3804920"/>
            <a:ext cx="76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87305" y="3677920"/>
            <a:ext cx="228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1605" y="1645920"/>
            <a:ext cx="1803349" cy="457200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54945" y="17373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54945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969B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3505" y="2267712"/>
            <a:ext cx="18795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3505" y="2880360"/>
            <a:ext cx="18795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39705" y="3273552"/>
            <a:ext cx="172714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Rating &amp; feedback
Update poin loyalty
Reminder kontrol berikutnya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Fitur Unggulan Platform Smart eKiosk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Teknologi enterprise-grade dalam form factor yang elegan dan mudah digunakan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759098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618488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63677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Registrasi Mandiri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7627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Pendaftaran pasien baru dalam 2 menit. Verifikasi NIK, QR membership, atau kartu pasien. Integrasi langsung ke database OMDC terpusat.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6298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6298" y="1508760"/>
            <a:ext cx="3759098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3458" y="1618488"/>
            <a:ext cx="502920" cy="502920"/>
          </a:xfrm>
          <a:prstGeom prst="ellipse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3458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3538" y="163677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Queue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3458" y="217627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Antrian digital cerdas dengan estimasi waktu akurat. Real-time queue display. Prioritas otomatis untuk lansia &amp; emergency.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6836" y="1508760"/>
            <a:ext cx="3759098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03996" y="1618488"/>
            <a:ext cx="502920" cy="502920"/>
          </a:xfrm>
          <a:prstGeom prst="ellipse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3996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4076" y="163677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Multi-Payment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217627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Tunai (kembalian otomatis), semua kartu debit/kredit, e-wallet populer, QRIS universal. Integrasi akuntansi langsung.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3759098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4178808"/>
            <a:ext cx="502920" cy="502920"/>
          </a:xfrm>
          <a:prstGeom prst="ellipse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78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19709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Print &amp; Digital Receipt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3659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Thermal print instan atau kirim ke email/WhatsApp. Riwayat transaksi tersimpan di akun pasien permanent.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6298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16298" y="4069080"/>
            <a:ext cx="3759098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53458" y="4178808"/>
            <a:ext cx="502920" cy="5029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3458" y="4178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3538" y="419709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Real-Time 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3458" y="473659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Sinkronisasi zero-delay ke semua sistem: EMR, billing, jadwal. Event-driven architecture yang handal dan fault-tolerant.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6836" y="4069080"/>
            <a:ext cx="3759098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03996" y="4178808"/>
            <a:ext cx="502920" cy="502920"/>
          </a:xfrm>
          <a:prstGeom prst="ellipse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3996" y="4178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4076" y="4197096"/>
            <a:ext cx="2844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Monitoring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3996" y="4736592"/>
            <a:ext cx="348477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Dashboard operasional kiosk real-time: status online, volume transaksi, error alert, dan laporan performa harian.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Spesifikasi Hardware eKiosk: Enterprise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Komponen premium untuk keandalan, estetika, dan performa optimal di lingkungan klinik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5897880"/>
            <a:ext cx="640080" cy="5486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6355080"/>
            <a:ext cx="2651760" cy="7315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600200"/>
            <a:ext cx="2926080" cy="425196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37360"/>
            <a:ext cx="2560320" cy="3749040"/>
          </a:xfrm>
          <a:prstGeom prst="roundRect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74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1F7A"/>
                </a:solidFill>
                <a:latin typeface="Calibri"/>
              </a:rPr>
              <a:t>OMDC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Selamat Datang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880360"/>
            <a:ext cx="2011680" cy="41148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80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[ SCAN QR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429000"/>
            <a:ext cx="2011680" cy="41148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29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[ DAFTAR BARU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394960"/>
            <a:ext cx="1737360" cy="91440"/>
          </a:xfrm>
          <a:prstGeom prst="rect">
            <a:avLst/>
          </a:prstGeom>
          <a:solidFill>
            <a:srgbClr val="2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5577840"/>
            <a:ext cx="548640" cy="228600"/>
          </a:xfrm>
          <a:prstGeom prst="roundRect">
            <a:avLst/>
          </a:prstGeom>
          <a:solidFill>
            <a:srgbClr val="2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879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1F7A"/>
                </a:solidFill>
                <a:latin typeface="Calibri"/>
              </a:rPr>
              <a:t>Smart eKiosk™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1546860"/>
            <a:ext cx="7894015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1546860"/>
            <a:ext cx="50800" cy="115824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563624"/>
            <a:ext cx="2762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1F7A"/>
                </a:solidFill>
                <a:latin typeface="Calibri"/>
              </a:rPr>
              <a:t>LAYAR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8562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Ukuran: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85623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32" Full HD IPS Touchscreen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130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Touch: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13055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10-point multi-touch kapasitif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6087" y="18562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Brightness: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6207" y="185623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400 nits, anti-glare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6087" y="2130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Body: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6207" y="213055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Stainless steel premium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2781300"/>
            <a:ext cx="7894015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31920" y="2781300"/>
            <a:ext cx="50800" cy="11582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2798064"/>
            <a:ext cx="2762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5CC"/>
                </a:solidFill>
                <a:latin typeface="Calibri"/>
              </a:rPr>
              <a:t>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090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Processor: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9067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Intel Core i5 Gen 12 Industrial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33649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RAM: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36499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16GB DDR4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6087" y="3090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Storage: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6207" y="309067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256GB NVMe SSD, enkripsi HW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6087" y="33649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OS: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6207" y="336499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Windows 10 IoT Enterprise LTSC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4015740"/>
            <a:ext cx="7894015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31920" y="4015740"/>
            <a:ext cx="50800" cy="1158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4032504"/>
            <a:ext cx="2762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PERIPHERAL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4325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Printer: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32511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Thermal 80mm, 200mm/s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9080" y="4599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Scanner: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59943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2D QR &amp; barcode omnidirectional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6087" y="4325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Card Reader: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6207" y="432511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EMV chip + contactless NFC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6087" y="45994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Power Backup: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6207" y="459943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Built-in UPS 2 jam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31920" y="5250180"/>
            <a:ext cx="7894015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31920" y="5250180"/>
            <a:ext cx="50800" cy="115824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5266944"/>
            <a:ext cx="2762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9B"/>
                </a:solidFill>
                <a:latin typeface="Calibri"/>
              </a:rPr>
              <a:t>KONEKTIVITAS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5559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Network: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555955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Gigabit Ethernet + WiFi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9080" y="58338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Security: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583387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Kunci fisik &amp; alarm anti-tamper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6087" y="5559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Remote Mgmt: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6207" y="555955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24/7 monitoring &amp;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16087" y="58338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Garansi: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76207" y="5833872"/>
            <a:ext cx="29411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2 tahun onsite replacement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Arsitektur Teknologi: Enterprise-Grade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Fondasi teknologi modern yang scalable, secure, dan siap tumbuh bersama OMDC selama 5–10 tahun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88440"/>
            <a:ext cx="11460175" cy="945896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20040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☁️ 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54480"/>
            <a:ext cx="7802575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E8"/>
                </a:solidFill>
                <a:latin typeface="Calibri"/>
              </a:rPr>
              <a:t>AWS Cloud: EC2 • RDS Aurora • S3 • CloudFront CDN • Auto-scaling • 99.9% SLA • Multi-region 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8775" y="1554480"/>
            <a:ext cx="32004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AA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85136"/>
            <a:ext cx="11002975" cy="945896"/>
          </a:xfrm>
          <a:prstGeom prst="roundRect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51176"/>
            <a:ext cx="320040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🗄️  DATABASE &amp;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551176"/>
            <a:ext cx="7345375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E8"/>
                </a:solidFill>
                <a:latin typeface="Calibri"/>
              </a:rPr>
              <a:t>PostgreSQL (primary + read replicas) • Redis caching • Enkripsi AES-256 • Backup tiap 6 jam • Replikasi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8775" y="2551176"/>
            <a:ext cx="32004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AA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81832"/>
            <a:ext cx="10545775" cy="945896"/>
          </a:xfrm>
          <a:prstGeom prst="round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47872"/>
            <a:ext cx="320040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⚙️  BACKEND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47872"/>
            <a:ext cx="6888175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E8"/>
                </a:solidFill>
                <a:latin typeface="Calibri"/>
              </a:rPr>
              <a:t>NestJS Microservices: Auth • Booking • EMR • Payment • Notification • Analytics • RabbitMQ event bus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88775" y="3547872"/>
            <a:ext cx="32004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AA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78528"/>
            <a:ext cx="10088575" cy="945896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544568"/>
            <a:ext cx="320040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💻  FRONTEND &amp;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44568"/>
            <a:ext cx="6430975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E8"/>
                </a:solidFill>
                <a:latin typeface="Calibri"/>
              </a:rPr>
              <a:t>Next.js 14 App Router (Website + PWA) • React Native (Android + iOS) • TypeScript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88775" y="4544568"/>
            <a:ext cx="32004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AA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5475224"/>
            <a:ext cx="9631375" cy="945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5541264"/>
            <a:ext cx="320040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🔌 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541264"/>
            <a:ext cx="5973775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E8"/>
                </a:solidFill>
                <a:latin typeface="Calibri"/>
              </a:rPr>
              <a:t>Midtrans &amp; Xendit (Payment) • Firebase FCM (Notif) • WhatsApp Business API • Google Analytics 4 • OAuth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88775" y="5541264"/>
            <a:ext cx="320040" cy="895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Keamanan Data &amp; Kepatuhan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Framework keamanan berlapis yang melindungi data sensitif pasien dan kepercayaan bisnis OMDC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638647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618488"/>
            <a:ext cx="548640" cy="54864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36776"/>
            <a:ext cx="463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Enkripsi End-to-End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1984248"/>
            <a:ext cx="2286000" cy="237744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9842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AES-256 at-rest, TLS 1.3 in-transit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13432"/>
            <a:ext cx="52728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Semua data pasien dienkripsi penuh. Kunci enkripsi dikelola AWS KMS. Zero-knowledge architecture—tidak ada akses tidak terotorisasi bahkan oleh administrator internal.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50876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508760"/>
            <a:ext cx="5638647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0167" y="161848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5967" y="1636776"/>
            <a:ext cx="463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Access Control &amp; IAM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5967" y="1984248"/>
            <a:ext cx="2286000" cy="237744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5967" y="19842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1F7A"/>
                </a:solidFill>
                <a:latin typeface="Calibri"/>
              </a:rPr>
              <a:t>RBAC granular + MFA mandatory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313432"/>
            <a:ext cx="52728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Role-based access control: admin, dokter, perawat, kasir, manajer. MFA wajib semua akun. Auto-logout sesi idle. Anomaly detection untuk akses mencurigakan.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06908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5638647" cy="50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17880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197096"/>
            <a:ext cx="463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Audit Log &amp; Compliance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4544568"/>
            <a:ext cx="2286000" cy="237744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544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69B"/>
                </a:solidFill>
                <a:latin typeface="Calibri"/>
              </a:rPr>
              <a:t>Pencatatan forensik immutable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73752"/>
            <a:ext cx="52728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Setiap akses dan modifikasi data dicatat secara permanen dan tidak bisa diubah. Kepatuhan regulasi kesehatan Indonesia, PDPA, dan standar ISO 27001 healthcare.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4069080"/>
            <a:ext cx="5638647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7287" y="4069080"/>
            <a:ext cx="5638647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70167" y="417880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167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☁️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5967" y="4197096"/>
            <a:ext cx="4632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Backup &amp; Disaster Recovery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5967" y="4544568"/>
            <a:ext cx="2286000" cy="237744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5967" y="4544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5CC"/>
                </a:solidFill>
                <a:latin typeface="Calibri"/>
              </a:rPr>
              <a:t>RTO &lt; 4 jam, RPO &lt; 1 jam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167" y="4873752"/>
            <a:ext cx="52728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Backup otomatis tiap 6 jam ke 3 region AWS berbeda. Disaster recovery drill rutin per kuartal. 99.9% uptime SLA dengan arsitektur high-availability.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Management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Visibilitas penuh atas performa seluruh ekosistem OMDC dalam satu layar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1146017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60175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97660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🏥  OMDC Command Center — Live Dashboard  |  Thu 19 Jun 2026  09:41 WIB  ● 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947672"/>
            <a:ext cx="221583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3860" y="1947672"/>
            <a:ext cx="2215835" cy="381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860" y="2020824"/>
            <a:ext cx="22158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1F7A"/>
                </a:solidFill>
                <a:latin typeface="Calibri"/>
              </a:rPr>
              <a:t>487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" y="2450592"/>
            <a:ext cx="22158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Total Pasien Hari 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5895" y="1947672"/>
            <a:ext cx="221583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5895" y="1947672"/>
            <a:ext cx="2215835" cy="381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5895" y="2020824"/>
            <a:ext cx="22158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B"/>
                </a:solidFill>
                <a:latin typeface="Calibri"/>
              </a:rPr>
              <a:t>Rp 94.2 Jt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5895" y="2450592"/>
            <a:ext cx="22158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Revenue Hari 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7930" y="1947672"/>
            <a:ext cx="221583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7930" y="1947672"/>
            <a:ext cx="2215835" cy="381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7930" y="2020824"/>
            <a:ext cx="22158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  <a:latin typeface="Calibri"/>
              </a:rPr>
              <a:t>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7930" y="2450592"/>
            <a:ext cx="22158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Utilisasi Dokter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9965" y="1947672"/>
            <a:ext cx="221583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79965" y="1947672"/>
            <a:ext cx="221583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9965" y="2020824"/>
            <a:ext cx="22158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4.8 / 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9965" y="2450592"/>
            <a:ext cx="22158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Rating Pasien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72000" y="1947672"/>
            <a:ext cx="221583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2000" y="1947672"/>
            <a:ext cx="221583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2000" y="2020824"/>
            <a:ext cx="22158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23 Mnt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2000" y="2450592"/>
            <a:ext cx="22158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Avg. Waktu Tunggu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834640"/>
            <a:ext cx="4354866" cy="3566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907792"/>
            <a:ext cx="41719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Revenue Trend — 6 Bulan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900" y="4347972"/>
            <a:ext cx="588651" cy="1842516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170172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62%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8751" y="4080510"/>
            <a:ext cx="588651" cy="2109978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0651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Feb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0651" y="3902710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71%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53602" y="4169664"/>
            <a:ext cx="588651" cy="2020824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5502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Mar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5502" y="3991864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68%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8453" y="3872484"/>
            <a:ext cx="588651" cy="2318004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80353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0353" y="3694684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78%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304" y="3664458"/>
            <a:ext cx="588651" cy="252603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5204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Mei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5204" y="3486658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85%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48155" y="3396996"/>
            <a:ext cx="588651" cy="2793492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10055" y="6228588"/>
            <a:ext cx="6648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0055" y="3219196"/>
            <a:ext cx="664851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1F7A"/>
                </a:solidFill>
                <a:latin typeface="Calibri"/>
              </a:rPr>
              <a:t>94%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94946" y="2834640"/>
            <a:ext cx="3438052" cy="3566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86386" y="2907792"/>
            <a:ext cx="32551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Booking Funnel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32106" y="3291840"/>
            <a:ext cx="3163732" cy="384048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86386" y="3364992"/>
            <a:ext cx="32551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Website Visit  100%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75029" y="3794760"/>
            <a:ext cx="2277887" cy="384048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86386" y="3867912"/>
            <a:ext cx="32551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Lihat Layanan  72%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02132" y="4297680"/>
            <a:ext cx="1423679" cy="384048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86386" y="4370832"/>
            <a:ext cx="32551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Mulai Booking  45%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60319" y="4800600"/>
            <a:ext cx="1107306" cy="384048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86386" y="4873752"/>
            <a:ext cx="32551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Confirmed  35%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70159" y="2834640"/>
            <a:ext cx="3118616" cy="3566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61599" y="2907792"/>
            <a:ext cx="293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Kinerja Cabang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79887" y="3291840"/>
            <a:ext cx="1715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Sudirman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77295" y="32918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969B"/>
                </a:solidFill>
                <a:latin typeface="Calibri"/>
              </a:rPr>
              <a:t>94%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79887" y="3566160"/>
            <a:ext cx="2630661" cy="1016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79887" y="3931920"/>
            <a:ext cx="1715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Kelapa Gading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77295" y="39319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969B"/>
                </a:solidFill>
                <a:latin typeface="Calibri"/>
              </a:rPr>
              <a:t>87%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79887" y="4206240"/>
            <a:ext cx="2434761" cy="1016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79887" y="4572000"/>
            <a:ext cx="1715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BSD 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77295" y="45720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969B"/>
                </a:solidFill>
                <a:latin typeface="Calibri"/>
              </a:rPr>
              <a:t>82%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79887" y="4846320"/>
            <a:ext cx="2294832" cy="1016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79887" y="5212080"/>
            <a:ext cx="1715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Bekasi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77295" y="52120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969B"/>
                </a:solidFill>
                <a:latin typeface="Calibri"/>
              </a:rPr>
              <a:t>78%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79887" y="5486400"/>
            <a:ext cx="2182889" cy="1016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Intelligence &amp;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Transformasi data operasional menjadi insight strategis yang mendorong pertumbuhan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759098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0020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Revenue &amp; Trend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Analisis tren revenue harian, mingguan, bulanan dengan drill-down per cabang dan per dokter. Deteksi anomali otomatis, perbandingan Year-over-Year, dan proyeksi 6 bulan berbasis machine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6298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6298" y="1508760"/>
            <a:ext cx="3759098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3458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6378" y="160020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Patient Behavior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207568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Analisis mendalam perilaku pasien: frekuensi kunjungan, jenis perawatan favorit, average transaction value, lifetime value, dan segmentasi untuk kampanye marketing yang hyper-targeted.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6836" y="1508760"/>
            <a:ext cx="3759098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3996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6916" y="160020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Treatment &amp; Service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07568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Performa tiap jenis layanan: volume, revenue, margin, dan satisfaction score. Identifikasi layanan underperforming. Benchmark antar cabang untuk best practice sharing yang berkelanjutan.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69080"/>
            <a:ext cx="3759098" cy="50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6052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Branch Performance Scorecard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63600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Scorecard komprehensif setiap cabang: NPS, revenue, efisiensi, utilisasi dokter, dan pertumbuhan pasien baru. Leaderboard untuk healthy competition dan identifikasi cabang yang butuh intervensi.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6298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6298" y="4069080"/>
            <a:ext cx="3759098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3458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6378" y="416052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AI-Powered Forecasting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3458" y="463600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Prediksi demand pasien per cabang untuk optimasi resource dan staffing. Rekomendasi inventory supplies. Deteksi early churn signals untuk re-engagement proaktif sebelum pasien pergi ke kompetitor.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6836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6836" y="4069080"/>
            <a:ext cx="3759098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3996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6916" y="4160520"/>
            <a:ext cx="29818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Real-Time Operational KPIs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3996" y="4636008"/>
            <a:ext cx="348477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Dashboard KPI operasional 24/7: kapasitas antrian, utilisasi ruang perawatan, throughput pasien, dan revenue per jam. Alert otomatis jika KPI menyimpang dari target yang sudah ditetapkan.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 Eksekusi Proyek: 8 Bulan Transformasi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Pendekatan bertahap dan terstruktur yang meminimalkan risiko dan memaksimalkan kualitas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" y="1508760"/>
            <a:ext cx="1833829" cy="54864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860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Discovery &amp;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560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560" y="2130552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Kickoff &amp; stakeholder alignment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560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560" y="2679192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Audit sistem existing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560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560" y="3227832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User research &amp; persona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560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560" y="3776472"/>
            <a:ext cx="50800" cy="475488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Requirement final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3860" y="4370832"/>
            <a:ext cx="1833829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889" y="1508760"/>
            <a:ext cx="1833829" cy="548640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3889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889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UI/UX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26589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26589" y="2130552"/>
            <a:ext cx="50800" cy="475488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2949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Design system &amp; brand guide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26589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26589" y="2679192"/>
            <a:ext cx="50800" cy="475488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12949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Wireframing semua platform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6589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26589" y="3227832"/>
            <a:ext cx="50800" cy="475488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2949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Prototype &amp; user testing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26589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26589" y="3776472"/>
            <a:ext cx="50800" cy="475488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12949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Design approval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13889" y="4370832"/>
            <a:ext cx="1833829" cy="50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23918" y="1508760"/>
            <a:ext cx="1833829" cy="5486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3918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3–4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3918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Website + SEO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6618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6618" y="2130552"/>
            <a:ext cx="5080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2978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Development website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36618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6618" y="2679192"/>
            <a:ext cx="5080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2978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Technical SEO setup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36618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36618" y="3227832"/>
            <a:ext cx="5080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2978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Konten &amp; copywriting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36618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36618" y="3776472"/>
            <a:ext cx="5080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2978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Launch &amp; monitoring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23918" y="4370832"/>
            <a:ext cx="1833829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33947" y="1508760"/>
            <a:ext cx="1833829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3947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4–6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3947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Mobile Development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6647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46647" y="2130552"/>
            <a:ext cx="50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3007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PWA development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46647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46647" y="2679192"/>
            <a:ext cx="50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3007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React Native app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46647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46647" y="3227832"/>
            <a:ext cx="50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3007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Backend API &amp; DB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46647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46647" y="3776472"/>
            <a:ext cx="50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3007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Payment &amp; notifikasi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33947" y="4370832"/>
            <a:ext cx="1833829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43976" y="1508760"/>
            <a:ext cx="1833829" cy="548640"/>
          </a:xfrm>
          <a:prstGeom prst="round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3976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6–7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3976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eKiosk Development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56676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56676" y="2130552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43036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Software kiosk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56676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56676" y="2679192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43036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Integrasi hardware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56676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56676" y="3227832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43036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Queue management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56676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56676" y="3776472"/>
            <a:ext cx="50800" cy="475488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43036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Payment kiosk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3976" y="4370832"/>
            <a:ext cx="1833829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954005" y="1508760"/>
            <a:ext cx="1833829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54005" y="15544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Bulan 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54005" y="1783080"/>
            <a:ext cx="18338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Testing &amp; Launch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66705" y="213055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66705" y="2130552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53065" y="220370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System integration test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966705" y="267919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966705" y="2679192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53065" y="275234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UAT bersama OMDC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66705" y="322783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966705" y="3227832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53065" y="330098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Staff training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66705" y="3776472"/>
            <a:ext cx="1808429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66705" y="3776472"/>
            <a:ext cx="508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53065" y="3849624"/>
            <a:ext cx="163570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Go-Live! 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954005" y="4370832"/>
            <a:ext cx="1833829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Dampak Bisnis yang Diproyeksikan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KPI terukur yang akan dicapai dalam 12 bulan pertama pasca-implementasi penuh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819323" cy="4846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2819323" cy="635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28193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91F7A"/>
                </a:solidFill>
                <a:latin typeface="Calibri"/>
              </a:rPr>
              <a:t>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2270683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80360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Pengurangan
Waktu Registrasi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254500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Dari 15 menit → 9 menit. eKiosk self-service menghilangkan bottleneck front desk sepenuhnya.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43600"/>
            <a:ext cx="2453563" cy="347472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24535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Bulan Pertama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9947" y="1554480"/>
            <a:ext cx="2819323" cy="4846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39947" y="1554480"/>
            <a:ext cx="2819323" cy="635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9947" y="1737360"/>
            <a:ext cx="28193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969B"/>
                </a:solidFill>
                <a:latin typeface="Calibri"/>
              </a:rPr>
              <a:t>35%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4267" y="2788920"/>
            <a:ext cx="2270683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9947" y="2880360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Peningkatan
Konversi Appointment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7107" y="3611880"/>
            <a:ext cx="254500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Website SEO-optimized + booking frictionless mengubah lebih banyak pengunjung jadi pasien.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2827" y="5943600"/>
            <a:ext cx="2453563" cy="347472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2827" y="5943600"/>
            <a:ext cx="24535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Bulan Pertama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14135" y="1554480"/>
            <a:ext cx="2819323" cy="4846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14135" y="1554480"/>
            <a:ext cx="2819323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4135" y="1737360"/>
            <a:ext cx="28193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D1B3E"/>
                </a:solidFill>
                <a:latin typeface="Calibri"/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8455" y="2788920"/>
            <a:ext cx="2270683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135" y="2880360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Pengurangan
Admin Workload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1295" y="3611880"/>
            <a:ext cx="254500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Otomasi registrasi, reminder, payment &amp; EMR membebaskan staff untuk layanan bernilai tinggi.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7015" y="5943600"/>
            <a:ext cx="2453563" cy="347472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7015" y="5943600"/>
            <a:ext cx="24535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Bulan Pertama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8323" y="1554480"/>
            <a:ext cx="2819323" cy="4846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88323" y="1554480"/>
            <a:ext cx="2819323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323" y="1737360"/>
            <a:ext cx="28193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7C3AED"/>
                </a:solidFill>
                <a:latin typeface="Calibri"/>
              </a:rPr>
              <a:t>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62643" y="2788920"/>
            <a:ext cx="2270683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323" y="2880360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Peningkatan
Repeat Visit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483" y="3611880"/>
            <a:ext cx="254500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Loyalty program digital, reminder perawatan berkala, dan engagement pasca-kunjungan yang personal.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71203" y="5943600"/>
            <a:ext cx="2453563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203" y="5943600"/>
            <a:ext cx="24535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Bulan Pertama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Rincian Investasi Software: Transparan &amp; Kompetitif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Setiap komponen dirancang memberikan nilai maksimal dengan investasi yang jelas dan terukur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3416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34160"/>
            <a:ext cx="50800" cy="58928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5448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Website Revamp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2880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Multipage responsive, CMS, WhatsApp API, booking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8112" y="160020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91F7A"/>
                </a:solidFill>
                <a:latin typeface="Calibri"/>
              </a:rPr>
              <a:t>Rp 60.000.000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7424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174240"/>
            <a:ext cx="50800" cy="58928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9456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19456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SEO &amp; Digital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46888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Technical SEO, content strategy, Google Ads setup, 6-bln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8112" y="224028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5CC"/>
                </a:solidFill>
                <a:latin typeface="Calibri"/>
              </a:rPr>
              <a:t>Rp 25.000.000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81432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14320"/>
            <a:ext cx="50800" cy="589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83464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Progressive Web App (PWA)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10896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Full-featured PWA dengan booking, membership, payment, notifikasi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8112" y="288036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D1B3E"/>
                </a:solidFill>
                <a:latin typeface="Calibri"/>
              </a:rPr>
              <a:t>Rp 120.000.000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45440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454400"/>
            <a:ext cx="50800" cy="58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7472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47472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Android Native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74904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React Native, App Store ready, offline mode, push notification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8112" y="352044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7C3AED"/>
                </a:solidFill>
                <a:latin typeface="Calibri"/>
              </a:rPr>
              <a:t>Rp 90.000.000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09448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94480"/>
            <a:ext cx="50800" cy="58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1480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11480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iOS Native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8912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React Native, TestFlight, App Store distribution, Apple 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8112" y="416052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7C3AED"/>
                </a:solidFill>
                <a:latin typeface="Calibri"/>
              </a:rPr>
              <a:t>Rp 90.000.000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34560"/>
            <a:ext cx="6522552" cy="589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734560"/>
            <a:ext cx="50800" cy="58928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754880"/>
            <a:ext cx="36576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🖥️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754880"/>
            <a:ext cx="4145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eKiosk Software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029200"/>
            <a:ext cx="414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Queue, payment, check-in, QR, real-time sync, monitoring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8112" y="4800600"/>
            <a:ext cx="1188720" cy="53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969B"/>
                </a:solidFill>
                <a:latin typeface="Calibri"/>
              </a:rPr>
              <a:t>Rp 75.000.000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387340"/>
            <a:ext cx="6522552" cy="56388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413248"/>
            <a:ext cx="441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SOFTWARE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8112" y="54132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5CC"/>
                </a:solidFill>
                <a:latin typeface="Calibri"/>
              </a:rPr>
              <a:t>Rp 460.000.000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88312" y="1546860"/>
            <a:ext cx="4937622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8312" y="1546860"/>
            <a:ext cx="50800" cy="115824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8312" y="1554480"/>
            <a:ext cx="4937622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1F7A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8312" y="2187702"/>
            <a:ext cx="4937622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Modul Platform
Lengkap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88312" y="2781300"/>
            <a:ext cx="4937622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88312" y="2781300"/>
            <a:ext cx="50800" cy="115824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88312" y="2788920"/>
            <a:ext cx="4937622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5CC"/>
                </a:solidFill>
                <a:latin typeface="Calibri"/>
              </a:rPr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8312" y="3422142"/>
            <a:ext cx="4937622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Slides Deliverable
Proposal Ini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8312" y="4015740"/>
            <a:ext cx="4937622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8312" y="4015740"/>
            <a:ext cx="50800" cy="1158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88312" y="4023360"/>
            <a:ext cx="4937622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3E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88312" y="4656582"/>
            <a:ext cx="4937622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Bulan Timeline
Pengerjaan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88312" y="5250180"/>
            <a:ext cx="4937622" cy="1158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88312" y="5250180"/>
            <a:ext cx="50800" cy="115824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88312" y="5257800"/>
            <a:ext cx="4937622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969B"/>
                </a:solidFill>
                <a:latin typeface="Calibri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88312" y="5891022"/>
            <a:ext cx="4937622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Bulan Support
Post-Launch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Investasi Hardware &amp; Total Nilai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3 unit Smart eKiosk enterprise-grade untuk transformasi fisik pengalaman pasien di klinik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2560320" cy="32004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UNIT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Cabang Sudirman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Rp 28.000.000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32" Touchscreen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Intel i5 Industrial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96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Thermal Printer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25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QR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Termasuk: Instalasi &amp; Konfigurasi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1554480"/>
            <a:ext cx="2560320" cy="32004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468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UNIT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Cabang Kelapa Gading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Rp 28.000.000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32" Touchscreen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913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Intel i5 Industrial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696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Thermal Printer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425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QR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Termasuk: Instalasi &amp; Konfigurasi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554480"/>
            <a:ext cx="2560320" cy="3200400"/>
          </a:xfrm>
          <a:prstGeom prst="roundRect">
            <a:avLst/>
          </a:prstGeom>
          <a:solidFill>
            <a:srgbClr val="0D1B3E"/>
          </a:solidFill>
          <a:ln w="1270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68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UNIT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Cabang BSD 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5CC"/>
                </a:solidFill>
                <a:latin typeface="Calibri"/>
              </a:rPr>
              <a:t>Rp 28.000.000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32" Touchscreen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913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Intel i5 Industrial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1696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Thermal Printer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425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CE8"/>
                </a:solidFill>
                <a:latin typeface="Calibri"/>
              </a:rPr>
              <a:t>✓  QR Scanner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Termasuk: Instalasi &amp; Konfigurasi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1F7A"/>
                </a:solidFill>
                <a:latin typeface="Calibri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1F7A"/>
                </a:solidFill>
                <a:latin typeface="Calibri"/>
              </a:rPr>
              <a:t>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560" y="5212080"/>
            <a:ext cx="3718458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560" y="5285232"/>
            <a:ext cx="37184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Software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560" y="5596128"/>
            <a:ext cx="3718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Rp 460.000.000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6618" y="5212080"/>
            <a:ext cx="3718458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36618" y="5285232"/>
            <a:ext cx="37184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Hardware 3 Unit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6618" y="5596128"/>
            <a:ext cx="3718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B"/>
                </a:solidFill>
                <a:latin typeface="Calibri"/>
              </a:rPr>
              <a:t>Rp 84.000.000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56676" y="5212080"/>
            <a:ext cx="3718458" cy="118872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6676" y="5212080"/>
            <a:ext cx="3718458" cy="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56676" y="5285232"/>
            <a:ext cx="37184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 INVESTASI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6676" y="5596128"/>
            <a:ext cx="3718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Rp 544.000.000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5295" y="-1828800"/>
            <a:ext cx="7315200" cy="7315200"/>
          </a:xfrm>
          <a:prstGeom prst="ellipse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05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PENAWARAN EKSKLUSIF OMDC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914400"/>
            <a:ext cx="7619695" cy="91440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960120"/>
            <a:ext cx="7619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6B7280"/>
                </a:solidFill>
                <a:latin typeface="Calibri"/>
              </a:rPr>
              <a:t>Rp 544.000.000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344168"/>
            <a:ext cx="707105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5CC"/>
                </a:solidFill>
                <a:latin typeface="Calibri"/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5CC"/>
                </a:solidFill>
                <a:latin typeface="Calibri"/>
              </a:rPr>
              <a:t>✦  SPECIAL PILOT PROGRAM  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108960"/>
            <a:ext cx="9448495" cy="146304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Rp 499.000.000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7286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5CC"/>
                </a:solidFill>
                <a:latin typeface="Calibri"/>
              </a:rPr>
              <a:t>HEMAT Rp 45 JUTA  •  All-Inclusive: Software + Hardware + Instalasi + Training + 3 Bln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⏰  Penawaran berlaku hingga 31 Juli 2026 — Hanya untuk mitra pilot program Ruang.dev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Ruang.dev  •  hello@ruang.dev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Milestone Pembayaran Bertahap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Struktur pembayaran adil dan transparan — selaras dengan progress pengerjaan yang nyata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40"/>
            <a:ext cx="11460175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560" y="1554480"/>
            <a:ext cx="2190435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560" y="1554480"/>
            <a:ext cx="219043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560" y="1600200"/>
            <a:ext cx="2190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1F7A"/>
                </a:solidFill>
                <a:latin typeface="Calibr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" y="2029968"/>
            <a:ext cx="20888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Penandatanganan Kontrak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560" y="2359152"/>
            <a:ext cx="21904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1F7A"/>
                </a:solidFill>
                <a:latin typeface="Calibri"/>
              </a:rPr>
              <a:t>Rp 149.700.000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0" y="2670048"/>
            <a:ext cx="20888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Kickoff resmi, pembentukan tim proyek, dan mulai fase discovery &amp; planning.</a:t>
            </a:r>
          </a:p>
        </p:txBody>
      </p:sp>
      <p:sp>
        <p:nvSpPr>
          <p:cNvPr id="17" name="Oval 16"/>
          <p:cNvSpPr/>
          <p:nvPr/>
        </p:nvSpPr>
        <p:spPr>
          <a:xfrm>
            <a:off x="1374617" y="3840480"/>
            <a:ext cx="274320" cy="274320"/>
          </a:xfrm>
          <a:prstGeom prst="ellipse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4617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8595" y="4297680"/>
            <a:ext cx="2190435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8595" y="4297680"/>
            <a:ext cx="2190435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8595" y="4343400"/>
            <a:ext cx="2190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5CC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9395" y="4773168"/>
            <a:ext cx="20888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Persetujuan Desain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8595" y="5102352"/>
            <a:ext cx="21904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5CC"/>
                </a:solidFill>
                <a:latin typeface="Calibri"/>
              </a:rPr>
              <a:t>Rp 99.800.000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9395" y="5413248"/>
            <a:ext cx="20888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Desain UI/UX seluruh platform telah disetujui stakeholder. Milestone kreatif tercapai.</a:t>
            </a:r>
          </a:p>
        </p:txBody>
      </p:sp>
      <p:sp>
        <p:nvSpPr>
          <p:cNvPr id="25" name="Oval 24"/>
          <p:cNvSpPr/>
          <p:nvPr/>
        </p:nvSpPr>
        <p:spPr>
          <a:xfrm>
            <a:off x="3666652" y="3840480"/>
            <a:ext cx="274320" cy="274320"/>
          </a:xfrm>
          <a:prstGeom prst="ellipse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652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0630" y="1554480"/>
            <a:ext cx="2190435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00630" y="1554480"/>
            <a:ext cx="2190435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630" y="1600200"/>
            <a:ext cx="2190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3E"/>
                </a:solidFill>
                <a:latin typeface="Calibr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1430" y="2029968"/>
            <a:ext cx="20888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Progress Development 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630" y="2359152"/>
            <a:ext cx="21904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/>
              </a:rPr>
              <a:t>Rp 99.800.000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1430" y="2670048"/>
            <a:ext cx="20888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Development backend dan frontend mencapai 50%. Demo internal fitur-fitur utama.</a:t>
            </a:r>
          </a:p>
        </p:txBody>
      </p:sp>
      <p:sp>
        <p:nvSpPr>
          <p:cNvPr id="33" name="Oval 32"/>
          <p:cNvSpPr/>
          <p:nvPr/>
        </p:nvSpPr>
        <p:spPr>
          <a:xfrm>
            <a:off x="5958687" y="3840480"/>
            <a:ext cx="274320" cy="27432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8687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2665" y="4297680"/>
            <a:ext cx="2190435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92665" y="4297680"/>
            <a:ext cx="2190435" cy="50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2665" y="4343400"/>
            <a:ext cx="2190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69B"/>
                </a:solidFill>
                <a:latin typeface="Calibri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3465" y="4773168"/>
            <a:ext cx="20888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User Acceptance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2665" y="5102352"/>
            <a:ext cx="21904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69B"/>
                </a:solidFill>
                <a:latin typeface="Calibri"/>
              </a:rPr>
              <a:t>Rp 99.800.000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3465" y="5413248"/>
            <a:ext cx="20888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UAT selesai, semua bug kritis terselesaikan. Platform siap untuk go-live.</a:t>
            </a:r>
          </a:p>
        </p:txBody>
      </p:sp>
      <p:sp>
        <p:nvSpPr>
          <p:cNvPr id="41" name="Oval 40"/>
          <p:cNvSpPr/>
          <p:nvPr/>
        </p:nvSpPr>
        <p:spPr>
          <a:xfrm>
            <a:off x="8250722" y="3840480"/>
            <a:ext cx="274320" cy="27432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0722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4700" y="1554480"/>
            <a:ext cx="2190435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84700" y="1554480"/>
            <a:ext cx="219043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84700" y="1600200"/>
            <a:ext cx="2190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Calibri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5500" y="2029968"/>
            <a:ext cx="20888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Go-Live &amp; Serah Terima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4700" y="2359152"/>
            <a:ext cx="21904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Rp 49.900.000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5500" y="2670048"/>
            <a:ext cx="20888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Launch resmi semua platform. Pelatihan staff. Handover dokumentasi teknis lengkap.</a:t>
            </a:r>
          </a:p>
        </p:txBody>
      </p:sp>
      <p:sp>
        <p:nvSpPr>
          <p:cNvPr id="49" name="Oval 48"/>
          <p:cNvSpPr/>
          <p:nvPr/>
        </p:nvSpPr>
        <p:spPr>
          <a:xfrm>
            <a:off x="10542757" y="38404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42757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Paket Dukungan &amp; Pemeliharaan Berkelanjutan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Kemitraan jangka panjang untuk memastikan sistem OMDC selalu prima, aman, dan berkembang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65615" y="1463040"/>
            <a:ext cx="2560320" cy="1005840"/>
          </a:xfrm>
          <a:prstGeom prst="round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5615" y="1481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Rp 10.000.000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5615" y="1965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CE7F3"/>
                </a:solidFill>
                <a:latin typeface="Calibri"/>
              </a:rPr>
              <a:t>per bulan  •  All-Inclusive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6032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3759098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33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5176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Cloud Monitoring 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Pemantauan infrastruktur dan aplikasi non-stop. Alert otomatis untuk anomali performa, downtime, atau ancaman keamanan. Response time insiden &lt; 15 menit untuk isu critical.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6298" y="256032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6298" y="2560320"/>
            <a:ext cx="3759098" cy="508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3458" y="2633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6378" y="265176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Technical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3458" y="310896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Tim support dedikasi via tiket, WhatsApp, dan telepon pada jam kerja. Eskalasi 24/7 untuk isu critical. SLA: response 2 jam, resolusi 24 jam untuk masalah level high.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256032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6836" y="2560320"/>
            <a:ext cx="3759098" cy="50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3996" y="2633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6916" y="265176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Bug Fix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10896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Penanganan bug prioritas dengan severity levels yang jelas. Hotfix deployment kapanpun dibutuhkan. Root cause analysis dan laporan insiden untuk setiap isu mayor.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75488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3759098" cy="50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4632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Security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0352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Patch keamanan rutin untuk semua komponen: OS, framework, dependencies, SSL/TLS renewal. Vulnerability scanning bulanan. Penetration testing tahunan.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16298" y="475488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16298" y="4754880"/>
            <a:ext cx="3759098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3458" y="4828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6378" y="484632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Minor Enhancement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3458" y="530352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Quarterly release dengan minor feature enhancement berdasarkan feedback operasional. Akses priority roadmap. Sesi strategy review per kuartal bersama tim Ruang.dev.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4754880"/>
            <a:ext cx="375909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6836" y="4754880"/>
            <a:ext cx="3759098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3996" y="4828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6916" y="4846320"/>
            <a:ext cx="29818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Monthly 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3996" y="5303520"/>
            <a:ext cx="348477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Laporan performa bulanan: uptime, response time, error rate, keamanan, dan rekomendasi optimasi. Business review deck siap untuk rapat direksi.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508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Mengapa Ruang.dev: Partner Transformasi Digital Terpercaya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CC"/>
                </a:solidFill>
                <a:latin typeface="Calibri"/>
              </a:rPr>
              <a:t>Bukan sekadar vendor teknologi — kami adalah mitra strategis yang invested dalam kesuksesan OMDC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457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Ruang.dev × OMDC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OMDC Digital Transformation 2026  |  Ruang.dev  |  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759098" cy="635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3677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End-to-End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Satu tim, satu tanggung jawab penuh dari discovery, design, development, testing, hingga launch dan maintenance. Tidak ada fragmentasi vendor—akuntabilitas penuh di satu tangan.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6298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6298" y="1508760"/>
            <a:ext cx="3759098" cy="63500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3458" y="161848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3458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258" y="163677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Product Thinking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3458" y="225856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Kami proaktif menyarankan fitur dan pendekatan yang lebih optimal. Mindset product manager, bukan sekadar order-taker. Kami bertanya 'mengapa' sebelum langsung mengerjakan 'apa'.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150876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6836" y="1508760"/>
            <a:ext cx="3759098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03996" y="161848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3996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9796" y="163677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Healthcare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225856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Pengalaman nyata membangun sistem digital untuk institusi kesehatan Indonesia. Memahami regulasi, alur klinis, kebutuhan privasi data pasien, dan tantangan unik digitalisasi layanan medis.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3759098" cy="635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17880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19709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Scalable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1888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Setiap sistem yang kami bangun menggunakan cloud-native, microservices architecture yang siap scale dari 1 cabang ke 100 cabang tanpa major rearchitecture. Future-proof dari hari pertama.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6298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16298" y="4069080"/>
            <a:ext cx="375909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53458" y="417880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3458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258" y="419709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Long-Term Partnership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3458" y="481888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Visi kami adalah tumbuh bersama OMDC selama 5–10 tahun ke depan. Quarterly strategy review, product roadmap bersama, priority access ke fitur baru, dan tarif preferensial untuk proyek berikutnya.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069080"/>
            <a:ext cx="3759098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6836" y="4069080"/>
            <a:ext cx="3759098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03996" y="4178808"/>
            <a:ext cx="548640" cy="54864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3996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Calibri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9796" y="4197096"/>
            <a:ext cx="27989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Quality &amp;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3996" y="4818888"/>
            <a:ext cx="348477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Proses development dengan automated testing, code review ketat, CI/CD pipeline, dan quality gate di setiap milestone. Tidak ada delivery tanpa UAT sign-off dari stakeholder OMDC.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9695" y="-914400"/>
            <a:ext cx="5486400" cy="5486400"/>
          </a:xfrm>
          <a:prstGeom prst="ellipse">
            <a:avLst/>
          </a:prstGeom>
          <a:solidFill>
            <a:srgbClr val="1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05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1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1F7A"/>
                </a:solidFill>
                <a:latin typeface="Calibri"/>
              </a:rPr>
              <a:t>OMDC × Ruang.dev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Membangun Masa Depan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1F7A"/>
                </a:solidFill>
                <a:latin typeface="Calibri"/>
              </a:rPr>
              <a:t>Digital Healthcare Indonesia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834640"/>
            <a:ext cx="5790895" cy="25400"/>
          </a:xfrm>
          <a:prstGeom prst="rect">
            <a:avLst/>
          </a:prstGeom>
          <a:solidFill>
            <a:srgbClr val="2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D0"/>
                </a:solidFill>
                <a:latin typeface="Calibri"/>
              </a:rPr>
              <a:t>Bersama, kita wujudkan klinik gigi paling digital dan patient-centric di Indonesia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6727" y="3703320"/>
            <a:ext cx="2194560" cy="566928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6727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🌐  ruang.dev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4167" y="3703320"/>
            <a:ext cx="2194560" cy="566928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4167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📧  hello@ruang.dev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3703320"/>
            <a:ext cx="2194560" cy="566928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 +62 812-0000-0000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9047" y="3703320"/>
            <a:ext cx="2194560" cy="566928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00C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047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📍  Jakarta, Indonesia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5CC"/>
                </a:solidFill>
                <a:latin typeface="Calibri"/>
              </a:rPr>
              <a:t>Siap memulai transformasi? Mari diskusi lebih lanjut.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560" y="4937760"/>
            <a:ext cx="2717723" cy="50292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560" y="5010912"/>
            <a:ext cx="27177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Website Premium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5883" y="4937760"/>
            <a:ext cx="2717723" cy="50292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5883" y="5010912"/>
            <a:ext cx="27177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PWA + Mobile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5207" y="4937760"/>
            <a:ext cx="2717723" cy="50292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5207" y="5010912"/>
            <a:ext cx="27177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Smart eKiosk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74531" y="4937760"/>
            <a:ext cx="2717723" cy="502920"/>
          </a:xfrm>
          <a:prstGeom prst="roundRect">
            <a:avLst/>
          </a:prstGeom>
          <a:solidFill>
            <a:srgbClr val="152855"/>
          </a:solidFill>
          <a:ln w="6350">
            <a:solidFill>
              <a:srgbClr val="C91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4531" y="5010912"/>
            <a:ext cx="27177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7286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1F7A"/>
                </a:solidFill>
                <a:latin typeface="Calibri"/>
              </a:rPr>
              <a:t>Rp 499.000.000 — Special Pilot Program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